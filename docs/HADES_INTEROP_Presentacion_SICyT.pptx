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Inversión MXN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215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HADES INTEROP</c:v>
                  </c:pt>
                  <c:pt idx="1">
                    <c:v>MuleSoft / IBM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2300000</c:v>
                </c:pt>
                <c:pt idx="1">
                  <c:v>11500000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215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25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AB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B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272" y="0"/>
            <a:ext cx="109728" cy="1371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5029200"/>
            <a:ext cx="1371600" cy="114300"/>
          </a:xfrm>
          <a:prstGeom prst="rect">
            <a:avLst/>
          </a:prstGeom>
          <a:solidFill>
            <a:srgbClr val="3A6070"/>
          </a:solidFill>
          <a:ln w="12700">
            <a:solidFill>
              <a:srgbClr val="3A60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45720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HΩ</a:t>
            </a:r>
            <a:endParaRPr lang="en-US" sz="18000" dirty="0"/>
          </a:p>
        </p:txBody>
      </p:sp>
      <p:sp>
        <p:nvSpPr>
          <p:cNvPr id="7" name="Shape 5"/>
          <p:cNvSpPr/>
          <p:nvPr/>
        </p:nvSpPr>
        <p:spPr>
          <a:xfrm>
            <a:off x="457200" y="502920"/>
            <a:ext cx="2194560" cy="292608"/>
          </a:xfrm>
          <a:prstGeom prst="rect">
            <a:avLst/>
          </a:prstGeom>
          <a:solidFill>
            <a:srgbClr val="103559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02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PROTOCOLO UNIVERSAL JSON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HADES INTEROP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Interoperabilidad Gubernamental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5029200" cy="36576"/>
          </a:xfrm>
          <a:prstGeom prst="rect">
            <a:avLst/>
          </a:prstGeom>
          <a:solidFill>
            <a:srgbClr val="3A6070"/>
          </a:solidFill>
          <a:ln w="12700">
            <a:solidFill>
              <a:srgbClr val="3A6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603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· Lara Systemic · Ocotlán, Jalisco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RFC: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LAVJ9510063G5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— Mayo 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5303520" cy="640080"/>
          </a:xfrm>
          <a:prstGeom prst="rect">
            <a:avLst/>
          </a:prstGeom>
          <a:solidFill>
            <a:srgbClr val="103559"/>
          </a:solidFill>
          <a:ln w="12700">
            <a:solidFill>
              <a:srgbClr val="1035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03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Dirigido a: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Secretaría de Innovación, Ciencia y Tecnología de Jalisco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sicyt.jalisco.gob.mx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3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CONFIDENCIAL — USO GUBERNAMENTAL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Fragmentación de Sistemas en Jalisco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560320" cy="1645920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08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 pérdida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estimada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1417320"/>
            <a:ext cx="2560320" cy="1645920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1508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108960" y="2377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sin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directa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1417320"/>
            <a:ext cx="2560320" cy="1645920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0" y="1508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C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72h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5852160" y="2377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respuesta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interinstitucional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 documentadas: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Duplicidad de captura: el mismo ciudadano se registra en 4+ sistemas independientes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 de datos entre Registro Civil, IMSS, Hacienda y Seguridad Pública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actuales dependen de nube extranjera y licencias anuales costosas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03559"/>
          </a:solidFill>
          <a:ln w="12700">
            <a:solidFill>
              <a:srgbClr val="1035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HADES INTEROP — Protocolo Universal JSON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011680" cy="822960"/>
          </a:xfrm>
          <a:prstGeom prst="rect">
            <a:avLst/>
          </a:prstGeom>
          <a:solidFill>
            <a:srgbClr val="103559"/>
          </a:solidFill>
          <a:ln w="12700">
            <a:solidFill>
              <a:srgbClr val="1035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447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Seg. Pública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1417320"/>
            <a:ext cx="2011680" cy="822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4447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HADES INTEROP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JSON HΩ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1417320"/>
            <a:ext cx="2011680" cy="822960"/>
          </a:xfrm>
          <a:prstGeom prst="rect">
            <a:avLst/>
          </a:prstGeom>
          <a:solidFill>
            <a:srgbClr val="103559"/>
          </a:solidFill>
          <a:ln w="12700">
            <a:solidFill>
              <a:srgbClr val="1035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4447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Civil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0" y="1417320"/>
            <a:ext cx="2011680" cy="822960"/>
          </a:xfrm>
          <a:prstGeom prst="rect">
            <a:avLst/>
          </a:prstGeom>
          <a:solidFill>
            <a:srgbClr val="103559"/>
          </a:solidFill>
          <a:ln w="12700">
            <a:solidFill>
              <a:srgbClr val="1035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4447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Vehículos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0" y="15087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389120" y="15087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66560" y="15087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0" y="2423160"/>
            <a:ext cx="2743200" cy="365760"/>
          </a:xfrm>
          <a:prstGeom prst="rect">
            <a:avLst/>
          </a:prstGeom>
          <a:solidFill>
            <a:srgbClr val="00C88A"/>
          </a:solidFill>
          <a:ln w="12700">
            <a:solidFill>
              <a:srgbClr val="00C8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Respuesta &lt; 2 segundos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4114800" cy="1828800"/>
          </a:xfrm>
          <a:prstGeom prst="rect">
            <a:avLst/>
          </a:prstGeom>
          <a:solidFill>
            <a:srgbClr val="010D15"/>
          </a:solidFill>
          <a:ln w="12700">
            <a:solidFill>
              <a:srgbClr val="3A60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718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B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SOLICITUD (una instrucción)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24612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"action": "consulta_ciudadano",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"curp": "MAPJ900101...",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"fuentes":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"registro_civil",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"repuve", "hacienda"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926080"/>
            <a:ext cx="4206240" cy="1828800"/>
          </a:xfrm>
          <a:prstGeom prst="rect">
            <a:avLst/>
          </a:prstGeom>
          <a:solidFill>
            <a:srgbClr val="010D15"/>
          </a:solidFill>
          <a:ln w="12700">
            <a:solidFill>
              <a:srgbClr val="3A60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9718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B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RESPUESTA UNIFICADA (&lt; 2 seg)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3246120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C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"VERIFICADO",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C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"identidad": {...},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C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"vehiculos": [...],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C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"adeudos": "ninguno",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C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"tiempo_ms": 847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C8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COMPETITIVAS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HADES INTEROP vs Soluciones Actuales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468880"/>
                <a:gridCol w="24688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5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HADES INTEROP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5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MuleSoft / IBM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52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Soberanía de 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C8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100% local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Nube extranjera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Licencias perpetuas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C8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Sin licencias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$2M+ MXN/año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de integración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C8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Horas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Meses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 en Jalisco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C8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Extranjero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local integrada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C8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Sin internet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 disponible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407408"/>
            <a:ext cx="3931920" cy="566928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40740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HADES INTEROP: $2,300,000 MXN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0" y="4407408"/>
            <a:ext cx="4206240" cy="566928"/>
          </a:xfrm>
          <a:prstGeom prst="rect">
            <a:avLst/>
          </a:prstGeom>
          <a:solidFill>
            <a:srgbClr val="FFF5F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0" y="440740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Competencia: $8M – $15M MXN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03559"/>
          </a:solidFill>
          <a:ln w="12700">
            <a:solidFill>
              <a:srgbClr val="1035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IMPLEMENTACIÓN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Fases · 4–6 Meses · ROI en 18–24 Meses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43200" cy="3474720"/>
          </a:xfrm>
          <a:prstGeom prst="rect">
            <a:avLst/>
          </a:prstGeom>
          <a:solidFill>
            <a:srgbClr val="103559"/>
          </a:solidFill>
          <a:ln w="12700">
            <a:solidFill>
              <a:srgbClr val="1035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27432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1–2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240280"/>
            <a:ext cx="2468880" cy="18288"/>
          </a:xfrm>
          <a:prstGeom prst="rect">
            <a:avLst/>
          </a:prstGeom>
          <a:solidFill>
            <a:srgbClr val="3A6070"/>
          </a:solidFill>
          <a:ln w="12700">
            <a:solidFill>
              <a:srgbClr val="3A6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7744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2 dependencias piloto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carga y rendimiento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Demo funcional en vivo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27832" y="1371600"/>
            <a:ext cx="2743200" cy="3474720"/>
          </a:xfrm>
          <a:prstGeom prst="rect">
            <a:avLst/>
          </a:prstGeom>
          <a:solidFill>
            <a:srgbClr val="103559"/>
          </a:solidFill>
          <a:ln w="12700">
            <a:solidFill>
              <a:srgbClr val="1035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2" y="1371600"/>
            <a:ext cx="2743200" cy="73152"/>
          </a:xfrm>
          <a:prstGeom prst="rect">
            <a:avLst/>
          </a:prstGeom>
          <a:solidFill>
            <a:srgbClr val="00C88A"/>
          </a:solidFill>
          <a:ln w="12700">
            <a:solidFill>
              <a:srgbClr val="00C8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319272" y="2103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0C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005072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05072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3–4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64992" y="2240280"/>
            <a:ext cx="2468880" cy="18288"/>
          </a:xfrm>
          <a:prstGeom prst="rect">
            <a:avLst/>
          </a:prstGeom>
          <a:solidFill>
            <a:srgbClr val="3A6070"/>
          </a:solidFill>
          <a:ln w="12700">
            <a:solidFill>
              <a:srgbClr val="3A6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237744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8 dependencias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de operadores técnicos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Sistema en producción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81344" y="1371600"/>
            <a:ext cx="2743200" cy="3474720"/>
          </a:xfrm>
          <a:prstGeom prst="rect">
            <a:avLst/>
          </a:prstGeom>
          <a:solidFill>
            <a:srgbClr val="103559"/>
          </a:solidFill>
          <a:ln w="12700">
            <a:solidFill>
              <a:srgbClr val="1035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81344" y="1371600"/>
            <a:ext cx="27432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272784" y="2103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58584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TOTAL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58584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5–6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18504" y="2240280"/>
            <a:ext cx="2468880" cy="18288"/>
          </a:xfrm>
          <a:prstGeom prst="rect">
            <a:avLst/>
          </a:prstGeom>
          <a:solidFill>
            <a:srgbClr val="3A6070"/>
          </a:solidFill>
          <a:ln w="12700">
            <a:solidFill>
              <a:srgbClr val="3A60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237744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completa del ecosistema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transferencia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Plataforma completa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1526"/>
          </a:solidFill>
          <a:ln w="12700">
            <a:solidFill>
              <a:srgbClr val="0215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Total vs Competencia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182880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Único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5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Implementación y configuración inicial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A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 de módulos de integración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A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Capacitación de personal técnico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A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 y mantenimiento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8AAB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52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365760" y="3703320"/>
          <a:ext cx="502920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5486400" y="37490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 más económico que la competencia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760720" y="4526280"/>
            <a:ext cx="2926080" cy="411480"/>
          </a:xfrm>
          <a:prstGeom prst="rect">
            <a:avLst/>
          </a:prstGeom>
          <a:solidFill>
            <a:srgbClr val="00C88A"/>
          </a:solidFill>
          <a:ln w="12700">
            <a:solidFill>
              <a:srgbClr val="00C88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60720" y="4526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18–24 meses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7432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HΩ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3657600" y="457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HADES INTEROP?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0" y="10058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jaliscience — desarrollado en Ocotlán, Jalisco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dependencia de nube extranjera — soberanía garantizada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 demostrable en 48 horas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5x menor que alternativas internacionales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activo LAVJ9510063G5 — listo para contratar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3017520"/>
            <a:ext cx="5120640" cy="1828800"/>
          </a:xfrm>
          <a:prstGeom prst="rect">
            <a:avLst/>
          </a:prstGeom>
          <a:solidFill>
            <a:srgbClr val="103559"/>
          </a:solidFill>
          <a:ln w="12700">
            <a:solidFill>
              <a:srgbClr val="1035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3017520"/>
            <a:ext cx="512064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3108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49040" y="342900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— Lara Systemic · Ocotlán, Jalisco
</a:t>
            </a:r>
            <a:pPr indent="0" marL="0">
              <a:buNone/>
            </a:pPr>
            <a:r>
              <a:rPr lang="en-US" sz="1200" dirty="0">
                <a:solidFill>
                  <a:srgbClr val="00C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Demo técnica disponible en 48 horas tras solicitud formal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C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Prueba piloto: Registro Civil ↔ Secretaría de Seguridad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Solicitar cita: 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sicyt.jalisco.gob.mx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HADES INTEROP — Tecnología Jaliscience para Jalisco · Confidencial · Mayo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HADES INTEROP — Propuesta SICyT Jalisco 2026</dc:title>
  <dc:subject>PptxGenJS Presentation</dc:subject>
  <dc:creator>Javier — Lara Systemic</dc:creator>
  <cp:lastModifiedBy>Javier — Lara Systemic</cp:lastModifiedBy>
  <cp:revision>1</cp:revision>
  <dcterms:created xsi:type="dcterms:W3CDTF">2026-05-10T09:56:59Z</dcterms:created>
  <dcterms:modified xsi:type="dcterms:W3CDTF">2026-05-10T09:56:59Z</dcterms:modified>
</cp:coreProperties>
</file>